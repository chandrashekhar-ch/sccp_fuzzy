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892040"/>
            <a:ext cx="12191695" cy="196596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7DD3D8"/>
                </a:solidFill>
                <a:latin typeface="Calibri"/>
              </a:rPr>
              <a:t>SC_CPROJECT · FUZZY LOGIC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FFFFFF"/>
                </a:solidFill>
                <a:latin typeface="Calibri"/>
              </a:rPr>
              <a:t>Fuzzy Inference System for Real-Time
Water Potability Classification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CFE8E9"/>
                </a:solidFill>
                <a:latin typeface="Calibri"/>
              </a:rPr>
              <a:t>From Low-Cost Multi-Sensor Data — a Mamdani FIS that classifies drinking-water
safety in real time using four low-cost IoT sensors, no lab equipment required.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2578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Presented by: SC_CProject 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6692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0F0F1"/>
                </a:solidFill>
                <a:latin typeface="Calibri"/>
              </a:rPr>
              <a:t>WHO Guidelines 2022  ·  BIS IS 10500:2012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E7C86"/>
                </a:solidFill>
                <a:latin typeface="Calibri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2A3D"/>
                </a:solidFill>
                <a:latin typeface="Calibri"/>
              </a:rPr>
              <a:t>Problem Statement &amp; Motivation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70432"/>
            <a:ext cx="2011680" cy="381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554480"/>
            <a:ext cx="5852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0B2A3D"/>
                </a:solidFill>
                <a:latin typeface="Calibri"/>
              </a:rPr>
              <a:t>▸ Conventional water testing is slow &amp; costly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55626B"/>
                </a:solidFill>
                <a:latin typeface="Calibri"/>
              </a:rPr>
              <a:t>–  Lab analysis requires trained personnel, days of turnaround, and is geographically limited.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B2A3D"/>
                </a:solidFill>
                <a:latin typeface="Calibri"/>
              </a:rPr>
              <a:t>▸ Hard-threshold classifiers create a “cliff-edge” effect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55626B"/>
                </a:solidFill>
                <a:latin typeface="Calibri"/>
              </a:rPr>
              <a:t>–  A tiny change in a sensor reading can flip the decision abruptly at a boundary — unrealistic for real water.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B2A3D"/>
                </a:solidFill>
                <a:latin typeface="Calibri"/>
              </a:rPr>
              <a:t>▸ Black-box ML models are not auditable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55626B"/>
                </a:solidFill>
                <a:latin typeface="Calibri"/>
              </a:rPr>
              <a:t>–  Neural networks give no traceable reasoning — unacceptable for safety-critical drinking-water decisions.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B2A3D"/>
                </a:solidFill>
                <a:latin typeface="Calibri"/>
              </a:rPr>
              <a:t>▸ Need: real-time, low-cost, interpretable classification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600200"/>
            <a:ext cx="4663440" cy="1188720"/>
          </a:xfrm>
          <a:prstGeom prst="roundRect">
            <a:avLst>
              <a:gd name="adj" fmla="val 8000"/>
            </a:avLst>
          </a:prstGeom>
          <a:solidFill>
            <a:srgbClr val="E3F3F3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86600" y="1709928"/>
            <a:ext cx="1280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0E7C86"/>
                </a:solidFill>
                <a:latin typeface="Calibri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1856232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0B2A3D"/>
                </a:solidFill>
                <a:latin typeface="Calibri"/>
              </a:rPr>
              <a:t>Low-cost IoT
sensors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3017520"/>
            <a:ext cx="4663440" cy="1188720"/>
          </a:xfrm>
          <a:prstGeom prst="roundRect">
            <a:avLst>
              <a:gd name="adj" fmla="val 8000"/>
            </a:avLst>
          </a:prstGeom>
          <a:solidFill>
            <a:srgbClr val="E3F3F3"/>
          </a:solidFill>
          <a:ln w="15875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86600" y="3127248"/>
            <a:ext cx="1280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22C55E"/>
                </a:solidFill>
                <a:latin typeface="Calibri"/>
              </a:rPr>
              <a:t>45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3273552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0B2A3D"/>
                </a:solidFill>
                <a:latin typeface="Calibri"/>
              </a:rPr>
              <a:t>WHO/BIS grounded
fuzzy rules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0" y="4434840"/>
            <a:ext cx="4663440" cy="1188720"/>
          </a:xfrm>
          <a:prstGeom prst="roundRect">
            <a:avLst>
              <a:gd name="adj" fmla="val 8000"/>
            </a:avLst>
          </a:prstGeom>
          <a:solidFill>
            <a:srgbClr val="E3F3F3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86600" y="4544568"/>
            <a:ext cx="1280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59E0B"/>
                </a:solidFill>
                <a:latin typeface="Calibri"/>
              </a:rPr>
              <a:t>&lt;₹8,000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4690872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0B2A3D"/>
                </a:solidFill>
                <a:latin typeface="Calibri"/>
              </a:rPr>
              <a:t>Total hardware
cost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5626B"/>
                </a:solidFill>
                <a:latin typeface="Calibri"/>
              </a:rPr>
              <a:t>Fuzzy Inference System · Water Potability Classification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5626B"/>
                </a:solidFill>
                <a:latin typeface="Calibri"/>
              </a:rPr>
              <a:t>2/16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E7C86"/>
                </a:solidFill>
                <a:latin typeface="Calibri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2A3D"/>
                </a:solidFill>
                <a:latin typeface="Calibri"/>
              </a:rPr>
              <a:t>Why Fuzzy Logic?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70432"/>
            <a:ext cx="2011680" cy="381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691640"/>
          <a:ext cx="109728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7680960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Approach</a:t>
                      </a:r>
                    </a:p>
                  </a:txBody>
                  <a:tcPr anchor="ctr" marL="76200" marR="76200" marT="38100" marB="38100"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Weakness / Strength</a:t>
                      </a:r>
                    </a:p>
                  </a:txBody>
                  <a:tcPr anchor="ctr" marL="76200" marR="76200" marT="38100" marB="38100">
                    <a:solidFill>
                      <a:srgbClr val="0E7C8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B2A3D"/>
                          </a:solidFill>
                          <a:latin typeface="Calibri"/>
                        </a:rPr>
                        <a:t>Hard-threshold classifier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B2A3D"/>
                          </a:solidFill>
                          <a:latin typeface="Calibri"/>
                        </a:rPr>
                        <a:t>Cliff-edge effect at boundaries — tiny change causes drastic class jump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B2A3D"/>
                          </a:solidFill>
                          <a:latin typeface="Calibri"/>
                        </a:rPr>
                        <a:t>Neural network (black box)</a:t>
                      </a:r>
                    </a:p>
                  </a:txBody>
                  <a:tcPr anchor="ctr" marL="76200" marR="76200" marT="38100" marB="38100"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B2A3D"/>
                          </a:solidFill>
                          <a:latin typeface="Calibri"/>
                        </a:rPr>
                        <a:t>High accuracy but not interpretable — cannot be audited for safety-critical use</a:t>
                      </a:r>
                    </a:p>
                  </a:txBody>
                  <a:tcPr anchor="ctr" marL="76200" marR="76200" marT="38100" marB="38100">
                    <a:solidFill>
                      <a:srgbClr val="F7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B2A3D"/>
                          </a:solidFill>
                          <a:latin typeface="Calibri"/>
                        </a:rPr>
                        <a:t>Mamdani FIS (this project)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B2A3D"/>
                          </a:solidFill>
                          <a:latin typeface="Calibri"/>
                        </a:rPr>
                        <a:t>Graded membership, human-readable rules, WHO/BIS grounded, real-time capable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94360" y="3977639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E7C86"/>
                </a:solidFill>
                <a:latin typeface="Calibri"/>
              </a:rPr>
              <a:t>Design Philosophy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38912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0B2A3D"/>
                </a:solidFill>
                <a:latin typeface="Calibri"/>
              </a:rPr>
              <a:t>▸ Every decision must be traceable to a specific rule grounded in a WHO/BIS standard.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0B2A3D"/>
                </a:solidFill>
                <a:latin typeface="Calibri"/>
              </a:rPr>
              <a:t>▸ Outputs should be continuous (0–10 WPI) rather than a binary safe/unsafe label.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0B2A3D"/>
                </a:solidFill>
                <a:latin typeface="Calibri"/>
              </a:rPr>
              <a:t>▸ The system must run on low-cost edge hardware in real time — no cloud inference needed.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5626B"/>
                </a:solidFill>
                <a:latin typeface="Calibri"/>
              </a:rPr>
              <a:t>Fuzzy Inference System · Water Potability Classification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5626B"/>
                </a:solidFill>
                <a:latin typeface="Calibri"/>
              </a:rPr>
              <a:t>3/16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E7C86"/>
                </a:solidFill>
                <a:latin typeface="Calibri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2A3D"/>
                </a:solidFill>
                <a:latin typeface="Calibri"/>
              </a:rPr>
              <a:t>Project 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70432"/>
            <a:ext cx="2011680" cy="381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9164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0B2A3D"/>
                </a:solidFill>
                <a:latin typeface="Calibri"/>
              </a:rPr>
              <a:t>▸ Design a Mamdani Fuzzy Inference System for water potability using pH, Turbidity, TDS &amp; Dissolved Oxygen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B2A3D"/>
                </a:solidFill>
                <a:latin typeface="Calibri"/>
              </a:rPr>
              <a:t>▸ Ground every membership function and rule in WHO (2022) / BIS IS 10500:2012 standards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B2A3D"/>
                </a:solidFill>
                <a:latin typeface="Calibri"/>
              </a:rPr>
              <a:t>▸ Apply temperature-compensated preprocessing to correct sensor drift (pH, DO)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B2A3D"/>
                </a:solidFill>
                <a:latin typeface="Calibri"/>
              </a:rPr>
              <a:t>▸ Build a real-time web dashboard for live visualization of readings, membership, and rule activation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B2A3D"/>
                </a:solidFill>
                <a:latin typeface="Calibri"/>
              </a:rPr>
              <a:t>▸ Validate the FIS against ML classifiers (Random Forest, KNN, SVM) on synthetic &amp; real-world datasets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B2A3D"/>
                </a:solidFill>
                <a:latin typeface="Calibri"/>
              </a:rPr>
              <a:t>▸ Demonstrate deployability on a ₹5,350 sensor stack + ESP32 microcontroller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5626B"/>
                </a:solidFill>
                <a:latin typeface="Calibri"/>
              </a:rPr>
              <a:t>Fuzzy Inference System · Water Potability Classification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5626B"/>
                </a:solidFill>
                <a:latin typeface="Calibri"/>
              </a:rPr>
              <a:t>4/16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E7C86"/>
                </a:solidFill>
                <a:latin typeface="Calibri"/>
              </a:rPr>
              <a:t>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2A3D"/>
                </a:solidFill>
                <a:latin typeface="Calibri"/>
              </a:rPr>
              <a:t>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1">
                <a:solidFill>
                  <a:srgbClr val="55626B"/>
                </a:solidFill>
                <a:latin typeface="Calibri"/>
              </a:rPr>
              <a:t>Sensor → Preprocessing → Mamdani FIS → Real-Time Dashboard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70432"/>
            <a:ext cx="2011680" cy="381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783080"/>
            <a:ext cx="10881360" cy="960120"/>
          </a:xfrm>
          <a:prstGeom prst="roundRect">
            <a:avLst>
              <a:gd name="adj" fmla="val 12000"/>
            </a:avLst>
          </a:prstGeom>
          <a:solidFill>
            <a:srgbClr val="F7FAFA"/>
          </a:solidFill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92808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E7C86"/>
                </a:solidFill>
                <a:latin typeface="Calibri"/>
              </a:rPr>
              <a:t>SENSOR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1874520"/>
            <a:ext cx="7223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5626B"/>
                </a:solidFill>
                <a:latin typeface="Calibri"/>
              </a:rPr>
              <a:t>pH · Turbidity · TDS · DO · Temperature
(compensator)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5577840" y="2724912"/>
            <a:ext cx="320040" cy="201168"/>
          </a:xfrm>
          <a:prstGeom prst="downArrow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2953512"/>
            <a:ext cx="10881360" cy="960120"/>
          </a:xfrm>
          <a:prstGeom prst="roundRect">
            <a:avLst>
              <a:gd name="adj" fmla="val 12000"/>
            </a:avLst>
          </a:prstGeom>
          <a:solidFill>
            <a:srgbClr val="F7FAFA"/>
          </a:solidFill>
          <a:ln w="19050">
            <a:solidFill>
              <a:srgbClr val="0B2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06324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2A3D"/>
                </a:solidFill>
                <a:latin typeface="Calibri"/>
              </a:rPr>
              <a:t>PREPROCESSING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3044952"/>
            <a:ext cx="7223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5626B"/>
                </a:solidFill>
                <a:latin typeface="Calibri"/>
              </a:rPr>
              <a:t>Temp. compensation → Z-score outlier
rejection → Moving avg (N=10) → Clamp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5577840" y="3895344"/>
            <a:ext cx="320040" cy="201168"/>
          </a:xfrm>
          <a:prstGeom prst="downArrow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" y="4123944"/>
            <a:ext cx="10881360" cy="960120"/>
          </a:xfrm>
          <a:prstGeom prst="roundRect">
            <a:avLst>
              <a:gd name="adj" fmla="val 12000"/>
            </a:avLst>
          </a:prstGeom>
          <a:solidFill>
            <a:srgbClr val="F7FAFA"/>
          </a:solidFill>
          <a:ln w="1905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233672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2C55E"/>
                </a:solidFill>
                <a:latin typeface="Calibri"/>
              </a:rPr>
              <a:t>MAMDANI FIS ENGINE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4215384"/>
            <a:ext cx="7223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5626B"/>
                </a:solidFill>
                <a:latin typeface="Calibri"/>
              </a:rPr>
              <a:t>Fuzzification → 45-Rule Evaluation →
MIN Implication → MAX Aggregation → Centroid Defuzz.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5577840" y="5065776"/>
            <a:ext cx="320040" cy="201168"/>
          </a:xfrm>
          <a:prstGeom prst="downArrow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" y="5294376"/>
            <a:ext cx="10881360" cy="960120"/>
          </a:xfrm>
          <a:prstGeom prst="roundRect">
            <a:avLst>
              <a:gd name="adj" fmla="val 12000"/>
            </a:avLst>
          </a:prstGeom>
          <a:solidFill>
            <a:srgbClr val="F7FAFA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404104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59E0B"/>
                </a:solidFill>
                <a:latin typeface="Calibri"/>
              </a:rPr>
              <a:t>REAL-TIME DASHBOARD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23360" y="5385816"/>
            <a:ext cx="7223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5626B"/>
                </a:solidFill>
                <a:latin typeface="Calibri"/>
              </a:rPr>
              <a:t>Flask + Socket.IO — Arc gauge, sensor
cards, membership &amp; rule visualisation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5626B"/>
                </a:solidFill>
                <a:latin typeface="Calibri"/>
              </a:rPr>
              <a:t>Fuzzy Inference System · Water Potability Classification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5626B"/>
                </a:solidFill>
                <a:latin typeface="Calibri"/>
              </a:rPr>
              <a:t>5/16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E7C86"/>
                </a:solidFill>
                <a:latin typeface="Calibri"/>
              </a:rPr>
              <a:t>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2A3D"/>
                </a:solidFill>
                <a:latin typeface="Calibri"/>
              </a:rPr>
              <a:t>Sensor Selection &amp; Hardware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70432"/>
            <a:ext cx="2011680" cy="381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645920"/>
          <a:ext cx="109728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2377440"/>
                <a:gridCol w="3017520"/>
                <a:gridCol w="2011680"/>
                <a:gridCol w="3017520"/>
              </a:tblGrid>
              <a:tr h="39624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anchor="ctr" marL="76200" marR="76200" marT="38100" marB="38100"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Parameter</a:t>
                      </a:r>
                    </a:p>
                  </a:txBody>
                  <a:tcPr anchor="ctr" marL="76200" marR="76200" marT="38100" marB="38100"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Sensor</a:t>
                      </a:r>
                    </a:p>
                  </a:txBody>
                  <a:tcPr anchor="ctr" marL="76200" marR="76200" marT="38100" marB="38100"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Cost (INR)</a:t>
                      </a:r>
                    </a:p>
                  </a:txBody>
                  <a:tcPr anchor="ctr" marL="76200" marR="76200" marT="38100" marB="38100"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WHO/BIS Limit</a:t>
                      </a:r>
                    </a:p>
                  </a:txBody>
                  <a:tcPr anchor="ctr" marL="76200" marR="76200" marT="38100" marB="38100">
                    <a:solidFill>
                      <a:srgbClr val="0E7C86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A3D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A3D"/>
                          </a:solidFill>
                          <a:latin typeface="Calibri"/>
                        </a:rPr>
                        <a:t>pH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A3D"/>
                          </a:solidFill>
                          <a:latin typeface="Calibri"/>
                        </a:rPr>
                        <a:t>DFRobot SEN0161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A3D"/>
                          </a:solidFill>
                          <a:latin typeface="Calibri"/>
                        </a:rPr>
                        <a:t>~₹1,200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A3D"/>
                          </a:solidFill>
                          <a:latin typeface="Calibri"/>
                        </a:rPr>
                        <a:t>6.5 – 8.5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A3D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76200" marR="76200" marT="38100" marB="38100"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A3D"/>
                          </a:solidFill>
                          <a:latin typeface="Calibri"/>
                        </a:rPr>
                        <a:t>Turbidity</a:t>
                      </a:r>
                    </a:p>
                  </a:txBody>
                  <a:tcPr anchor="ctr" marL="76200" marR="76200" marT="38100" marB="38100"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A3D"/>
                          </a:solidFill>
                          <a:latin typeface="Calibri"/>
                        </a:rPr>
                        <a:t>DFRobot SEN0189</a:t>
                      </a:r>
                    </a:p>
                  </a:txBody>
                  <a:tcPr anchor="ctr" marL="76200" marR="76200" marT="38100" marB="38100"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A3D"/>
                          </a:solidFill>
                          <a:latin typeface="Calibri"/>
                        </a:rPr>
                        <a:t>~₹800</a:t>
                      </a:r>
                    </a:p>
                  </a:txBody>
                  <a:tcPr anchor="ctr" marL="76200" marR="76200" marT="38100" marB="38100"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A3D"/>
                          </a:solidFill>
                          <a:latin typeface="Calibri"/>
                        </a:rPr>
                        <a:t>&lt;1 NTU (WHO), &lt;5 NTU (BIS)</a:t>
                      </a:r>
                    </a:p>
                  </a:txBody>
                  <a:tcPr anchor="ctr" marL="76200" marR="76200" marT="38100" marB="38100">
                    <a:solidFill>
                      <a:srgbClr val="F7FAF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A3D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A3D"/>
                          </a:solidFill>
                          <a:latin typeface="Calibri"/>
                        </a:rPr>
                        <a:t>TDS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A3D"/>
                          </a:solidFill>
                          <a:latin typeface="Calibri"/>
                        </a:rPr>
                        <a:t>DFRobot SEN0244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A3D"/>
                          </a:solidFill>
                          <a:latin typeface="Calibri"/>
                        </a:rPr>
                        <a:t>~₹700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A3D"/>
                          </a:solidFill>
                          <a:latin typeface="Calibri"/>
                        </a:rPr>
                        <a:t>&lt;500 mg/L (BIS desirable)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A3D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L="76200" marR="76200" marT="38100" marB="38100"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A3D"/>
                          </a:solidFill>
                          <a:latin typeface="Calibri"/>
                        </a:rPr>
                        <a:t>Dissolved Oxygen</a:t>
                      </a:r>
                    </a:p>
                  </a:txBody>
                  <a:tcPr anchor="ctr" marL="76200" marR="76200" marT="38100" marB="38100"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A3D"/>
                          </a:solidFill>
                          <a:latin typeface="Calibri"/>
                        </a:rPr>
                        <a:t>DFRobot SEN0237</a:t>
                      </a:r>
                    </a:p>
                  </a:txBody>
                  <a:tcPr anchor="ctr" marL="76200" marR="76200" marT="38100" marB="38100"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A3D"/>
                          </a:solidFill>
                          <a:latin typeface="Calibri"/>
                        </a:rPr>
                        <a:t>~₹2,500</a:t>
                      </a:r>
                    </a:p>
                  </a:txBody>
                  <a:tcPr anchor="ctr" marL="76200" marR="76200" marT="38100" marB="38100"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A3D"/>
                          </a:solidFill>
                          <a:latin typeface="Calibri"/>
                        </a:rPr>
                        <a:t>&gt;6 mg/L (health benchmark)</a:t>
                      </a:r>
                    </a:p>
                  </a:txBody>
                  <a:tcPr anchor="ctr" marL="76200" marR="76200" marT="38100" marB="38100">
                    <a:solidFill>
                      <a:srgbClr val="F7FAF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A3D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A3D"/>
                          </a:solidFill>
                          <a:latin typeface="Calibri"/>
                        </a:rPr>
                        <a:t>Temperature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A3D"/>
                          </a:solidFill>
                          <a:latin typeface="Calibri"/>
                        </a:rPr>
                        <a:t>DS18B20 (compensator)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A3D"/>
                          </a:solidFill>
                          <a:latin typeface="Calibri"/>
                        </a:rPr>
                        <a:t>~₹150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A3D"/>
                          </a:solidFill>
                          <a:latin typeface="Calibri"/>
                        </a:rPr>
                        <a:t>Calibration use only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94360" y="4251960"/>
            <a:ext cx="3291840" cy="50292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Total cost: ~₹5,350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9834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E7C86"/>
                </a:solidFill>
                <a:latin typeface="Calibri"/>
              </a:rPr>
              <a:t>Microcontroller &amp; Compensation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539496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0">
                <a:solidFill>
                  <a:srgbClr val="0B2A3D"/>
                </a:solidFill>
                <a:latin typeface="Calibri"/>
              </a:rPr>
              <a:t>▸ ESP32 (Wi-Fi, 12-bit ADC, 240 MHz dual-core) streams JSON packets at 115,200 baud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0B2A3D"/>
                </a:solidFill>
                <a:latin typeface="Calibri"/>
              </a:rPr>
              <a:t>▸ pH: ΔpH = 0.003 × (T − 25°C)   |   DO: corrected via Benson &amp; Krause saturation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5626B"/>
                </a:solidFill>
                <a:latin typeface="Calibri"/>
              </a:rPr>
              <a:t>Fuzzy Inference System · Water Potability Classification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5626B"/>
                </a:solidFill>
                <a:latin typeface="Calibri"/>
              </a:rPr>
              <a:t>6/16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E7C86"/>
                </a:solidFill>
                <a:latin typeface="Calibri"/>
              </a:rPr>
              <a:t>FIS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2A3D"/>
                </a:solidFill>
                <a:latin typeface="Calibri"/>
              </a:rPr>
              <a:t>Fuzzy Inference System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1">
                <a:solidFill>
                  <a:srgbClr val="55626B"/>
                </a:solidFill>
                <a:latin typeface="Calibri"/>
              </a:rPr>
              <a:t>Mamdani-type FIS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70432"/>
            <a:ext cx="2011680" cy="381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69164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55626B"/>
                </a:solidFill>
                <a:latin typeface="Calibri"/>
              </a:rPr>
              <a:t>IMPLICATION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011680"/>
            <a:ext cx="3566160" cy="594360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399" y="169164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55626B"/>
                </a:solidFill>
                <a:latin typeface="Calibri"/>
              </a:rPr>
              <a:t>AGGREGATION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399" y="2011680"/>
            <a:ext cx="3566160" cy="594360"/>
          </a:xfrm>
          <a:prstGeom prst="roundRect">
            <a:avLst>
              <a:gd name="adj" fmla="val 50000"/>
            </a:avLst>
          </a:prstGeom>
          <a:solidFill>
            <a:srgbClr val="0B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MAX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38" y="169164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55626B"/>
                </a:solidFill>
                <a:latin typeface="Calibri"/>
              </a:rPr>
              <a:t>DEFUZZIFICATION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38" y="2011680"/>
            <a:ext cx="3566160" cy="59436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Centroid of Area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94360" y="2880360"/>
          <a:ext cx="109728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737360"/>
                <a:gridCol w="7132320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Variable</a:t>
                      </a:r>
                    </a:p>
                  </a:txBody>
                  <a:tcPr anchor="ctr" marL="76200" marR="76200" marT="38100" marB="38100"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Range</a:t>
                      </a:r>
                    </a:p>
                  </a:txBody>
                  <a:tcPr anchor="ctr" marL="76200" marR="76200" marT="38100" marB="38100"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Linguistic Terms</a:t>
                      </a:r>
                    </a:p>
                  </a:txBody>
                  <a:tcPr anchor="ctr" marL="76200" marR="76200" marT="38100" marB="38100">
                    <a:solidFill>
                      <a:srgbClr val="0E7C8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A3D"/>
                          </a:solidFill>
                          <a:latin typeface="Calibri"/>
                        </a:rPr>
                        <a:t>pH (input)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A3D"/>
                          </a:solidFill>
                          <a:latin typeface="Calibri"/>
                        </a:rPr>
                        <a:t>0 – 14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A3D"/>
                          </a:solidFill>
                          <a:latin typeface="Calibri"/>
                        </a:rPr>
                        <a:t>Acidic · Slightly Acidic · Neutral · Slightly Alkaline · Alkaline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A3D"/>
                          </a:solidFill>
                          <a:latin typeface="Calibri"/>
                        </a:rPr>
                        <a:t>Turbidity (input)</a:t>
                      </a:r>
                    </a:p>
                  </a:txBody>
                  <a:tcPr anchor="ctr" marL="76200" marR="76200" marT="38100" marB="38100"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A3D"/>
                          </a:solidFill>
                          <a:latin typeface="Calibri"/>
                        </a:rPr>
                        <a:t>0 – 100 NTU</a:t>
                      </a:r>
                    </a:p>
                  </a:txBody>
                  <a:tcPr anchor="ctr" marL="76200" marR="76200" marT="38100" marB="38100"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A3D"/>
                          </a:solidFill>
                          <a:latin typeface="Calibri"/>
                        </a:rPr>
                        <a:t>Clear · Slightly Turbid · Turbid · Very Turbid</a:t>
                      </a:r>
                    </a:p>
                  </a:txBody>
                  <a:tcPr anchor="ctr" marL="76200" marR="76200" marT="38100" marB="38100">
                    <a:solidFill>
                      <a:srgbClr val="F7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A3D"/>
                          </a:solidFill>
                          <a:latin typeface="Calibri"/>
                        </a:rPr>
                        <a:t>TDS (input)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A3D"/>
                          </a:solidFill>
                          <a:latin typeface="Calibri"/>
                        </a:rPr>
                        <a:t>0 – 1500 mg/L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A3D"/>
                          </a:solidFill>
                          <a:latin typeface="Calibri"/>
                        </a:rPr>
                        <a:t>Pure · Acceptable · High · Very High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A3D"/>
                          </a:solidFill>
                          <a:latin typeface="Calibri"/>
                        </a:rPr>
                        <a:t>DO (input)</a:t>
                      </a:r>
                    </a:p>
                  </a:txBody>
                  <a:tcPr anchor="ctr" marL="76200" marR="76200" marT="38100" marB="38100"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A3D"/>
                          </a:solidFill>
                          <a:latin typeface="Calibri"/>
                        </a:rPr>
                        <a:t>0 – 20 mg/L</a:t>
                      </a:r>
                    </a:p>
                  </a:txBody>
                  <a:tcPr anchor="ctr" marL="76200" marR="76200" marT="38100" marB="38100"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A3D"/>
                          </a:solidFill>
                          <a:latin typeface="Calibri"/>
                        </a:rPr>
                        <a:t>Very Low · Low · Acceptable · High</a:t>
                      </a:r>
                    </a:p>
                  </a:txBody>
                  <a:tcPr anchor="ctr" marL="76200" marR="76200" marT="38100" marB="38100">
                    <a:solidFill>
                      <a:srgbClr val="F7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A3D"/>
                          </a:solidFill>
                          <a:latin typeface="Calibri"/>
                        </a:rPr>
                        <a:t>WPI (output)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A3D"/>
                          </a:solidFill>
                          <a:latin typeface="Calibri"/>
                        </a:rPr>
                        <a:t>0 – 10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A3D"/>
                          </a:solidFill>
                          <a:latin typeface="Calibri"/>
                        </a:rPr>
                        <a:t>Non-Potable · Marginal · Potable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5626B"/>
                </a:solidFill>
                <a:latin typeface="Calibri"/>
              </a:rPr>
              <a:t>Fuzzy Inference System · Water Potability Classification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5626B"/>
                </a:solidFill>
                <a:latin typeface="Calibri"/>
              </a:rPr>
              <a:t>7/16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E7C86"/>
                </a:solidFill>
                <a:latin typeface="Calibri"/>
              </a:rPr>
              <a:t>FIS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2A3D"/>
                </a:solidFill>
                <a:latin typeface="Calibri"/>
              </a:rPr>
              <a:t>Fuzzy Sets: pH Membership Functions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70432"/>
            <a:ext cx="2011680" cy="381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f_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1600200"/>
            <a:ext cx="9052560" cy="45262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554480" y="1600200"/>
            <a:ext cx="9052560" cy="4526280"/>
          </a:xfrm>
          <a:prstGeom prst="rect">
            <a:avLst/>
          </a:prstGeom>
          <a:noFill/>
          <a:ln w="12700">
            <a:solidFill>
              <a:srgbClr val="DDE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6172200"/>
            <a:ext cx="9052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1">
                <a:solidFill>
                  <a:srgbClr val="55626B"/>
                </a:solidFill>
                <a:latin typeface="Calibri"/>
              </a:rPr>
              <a:t>pH universe of discourse [0,14] with 5 overlapping fuzzy sets; green band = WHO safe zone (6.5–8.5)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5626B"/>
                </a:solidFill>
                <a:latin typeface="Calibri"/>
              </a:rPr>
              <a:t>Fuzzy Inference System · Water Potability Classification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5626B"/>
                </a:solidFill>
                <a:latin typeface="Calibri"/>
              </a:rPr>
              <a:t>8/16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E7C86"/>
                </a:solidFill>
                <a:latin typeface="Calibri"/>
              </a:rPr>
              <a:t>FIS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2A3D"/>
                </a:solidFill>
                <a:latin typeface="Calibri"/>
              </a:rPr>
              <a:t>Output Variable: Water Potability Index (WPI)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70432"/>
            <a:ext cx="2011680" cy="381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f_output_wp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1600200"/>
            <a:ext cx="9052560" cy="45262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554480" y="1600200"/>
            <a:ext cx="9052560" cy="4526280"/>
          </a:xfrm>
          <a:prstGeom prst="rect">
            <a:avLst/>
          </a:prstGeom>
          <a:noFill/>
          <a:ln w="12700">
            <a:solidFill>
              <a:srgbClr val="DDE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6172200"/>
            <a:ext cx="9052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1">
                <a:solidFill>
                  <a:srgbClr val="55626B"/>
                </a:solidFill>
                <a:latin typeface="Calibri"/>
              </a:rPr>
              <a:t>Three overlapping output sets on [0,10]: Non-Potable, Marginal, Potable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5626B"/>
                </a:solidFill>
                <a:latin typeface="Calibri"/>
              </a:rPr>
              <a:t>Fuzzy Inference System · Water Potability Classification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5626B"/>
                </a:solidFill>
                <a:latin typeface="Calibri"/>
              </a:rPr>
              <a:t>9/16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E7C86"/>
                </a:solidFill>
                <a:latin typeface="Calibri"/>
              </a:rPr>
              <a:t>FIS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2A3D"/>
                </a:solidFill>
                <a:latin typeface="Calibri"/>
              </a:rPr>
              <a:t>Rule Base — 45 WHO/BIS-Grounded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70432"/>
            <a:ext cx="2011680" cy="381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645920"/>
          <a:ext cx="1097280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75120"/>
                <a:gridCol w="1554480"/>
                <a:gridCol w="2743200"/>
              </a:tblGrid>
              <a:tr h="35433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Rule Group</a:t>
                      </a:r>
                    </a:p>
                  </a:txBody>
                  <a:tcPr anchor="ctr" marL="76200" marR="76200" marT="38100" marB="38100"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# Rules</a:t>
                      </a:r>
                    </a:p>
                  </a:txBody>
                  <a:tcPr anchor="ctr" marL="76200" marR="76200" marT="38100" marB="38100"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Consequent</a:t>
                      </a:r>
                    </a:p>
                  </a:txBody>
                  <a:tcPr anchor="ctr" marL="76200" marR="76200" marT="38100" marB="38100">
                    <a:solidFill>
                      <a:srgbClr val="0E7C86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A3D"/>
                          </a:solidFill>
                          <a:latin typeface="Calibri"/>
                        </a:rPr>
                        <a:t>Fully potable (all parameters safe)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A3D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A3D"/>
                          </a:solidFill>
                          <a:latin typeface="Calibri"/>
                        </a:rPr>
                        <a:t>POTABLE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A3D"/>
                          </a:solidFill>
                          <a:latin typeface="Calibri"/>
                        </a:rPr>
                        <a:t>Hard non-potability triggers (single-param failure)</a:t>
                      </a:r>
                    </a:p>
                  </a:txBody>
                  <a:tcPr anchor="ctr" marL="76200" marR="76200" marT="38100" marB="38100"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A3D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76200" marR="76200" marT="38100" marB="38100"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A3D"/>
                          </a:solidFill>
                          <a:latin typeface="Calibri"/>
                        </a:rPr>
                        <a:t>NON-POTABLE</a:t>
                      </a:r>
                    </a:p>
                  </a:txBody>
                  <a:tcPr anchor="ctr" marL="76200" marR="76200" marT="38100" marB="38100">
                    <a:solidFill>
                      <a:srgbClr val="F7FAFA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A3D"/>
                          </a:solidFill>
                          <a:latin typeface="Calibri"/>
                        </a:rPr>
                        <a:t>Dual-parameter failures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A3D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A3D"/>
                          </a:solidFill>
                          <a:latin typeface="Calibri"/>
                        </a:rPr>
                        <a:t>NON-POTABLE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A3D"/>
                          </a:solidFill>
                          <a:latin typeface="Calibri"/>
                        </a:rPr>
                        <a:t>Single-parameter boundary violation</a:t>
                      </a:r>
                    </a:p>
                  </a:txBody>
                  <a:tcPr anchor="ctr" marL="76200" marR="76200" marT="38100" marB="38100"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A3D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anchor="ctr" marL="76200" marR="76200" marT="38100" marB="38100"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A3D"/>
                          </a:solidFill>
                          <a:latin typeface="Calibri"/>
                        </a:rPr>
                        <a:t>MARGINAL</a:t>
                      </a:r>
                    </a:p>
                  </a:txBody>
                  <a:tcPr anchor="ctr" marL="76200" marR="76200" marT="38100" marB="38100">
                    <a:solidFill>
                      <a:srgbClr val="F7FAFA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A3D"/>
                          </a:solidFill>
                          <a:latin typeface="Calibri"/>
                        </a:rPr>
                        <a:t>Turbid + mixed parameters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A3D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A3D"/>
                          </a:solidFill>
                          <a:latin typeface="Calibri"/>
                        </a:rPr>
                        <a:t>MARGINAL / NON-POTABLE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A3D"/>
                          </a:solidFill>
                          <a:latin typeface="Calibri"/>
                        </a:rPr>
                        <a:t>Extreme scenarios</a:t>
                      </a:r>
                    </a:p>
                  </a:txBody>
                  <a:tcPr anchor="ctr" marL="76200" marR="76200" marT="38100" marB="38100"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A3D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76200" marR="76200" marT="38100" marB="38100"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A3D"/>
                          </a:solidFill>
                          <a:latin typeface="Calibri"/>
                        </a:rPr>
                        <a:t>NON-POTABLE</a:t>
                      </a:r>
                    </a:p>
                  </a:txBody>
                  <a:tcPr anchor="ctr" marL="76200" marR="76200" marT="38100" marB="38100">
                    <a:solidFill>
                      <a:srgbClr val="F7FAFA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A3D"/>
                          </a:solidFill>
                          <a:latin typeface="Calibri"/>
                        </a:rPr>
                        <a:t>Multi-parameter boundary cases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A3D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A3D"/>
                          </a:solidFill>
                          <a:latin typeface="Calibri"/>
                        </a:rPr>
                        <a:t>MARGINAL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94360" y="46634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E7C86"/>
                </a:solidFill>
                <a:latin typeface="Calibri"/>
              </a:rPr>
              <a:t>Sample Rules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02920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0B2A3D"/>
                </a:solidFill>
                <a:latin typeface="Consolas"/>
              </a:rPr>
              <a:t>R1:  IF pH=NEUTRAL AND Turbidity=CLEAR AND TDS=ACCEPTABLE AND DO=HIGH  →  WPI=POTABLE  [w=1.0]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0B2A3D"/>
                </a:solidFill>
                <a:latin typeface="Consolas"/>
              </a:rPr>
              <a:t>R9:  IF pH=ACIDIC  →  WPI=NON_POTABLE  [w=1.0]   (critical trigger)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0B2A3D"/>
                </a:solidFill>
                <a:latin typeface="Consolas"/>
              </a:rPr>
              <a:t>R18: IF pH=NEUTRAL AND Turbidity=SLIGHTLY_TURBID AND TDS=ACCEPTABLE AND DO=ACCEPTABLE  →  WPI=MARGINAL  [w=0.80]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5626B"/>
                </a:solidFill>
                <a:latin typeface="Calibri"/>
              </a:rPr>
              <a:t>Fuzzy Inference System · Water Potability Classification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5626B"/>
                </a:solidFill>
                <a:latin typeface="Calibri"/>
              </a:rPr>
              <a:t>10/16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E7C86"/>
                </a:solidFill>
                <a:latin typeface="Calibri"/>
              </a:rPr>
              <a:t>FIS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2A3D"/>
                </a:solidFill>
                <a:latin typeface="Calibri"/>
              </a:rPr>
              <a:t>Inference Pipeline &amp; Defuzzification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70432"/>
            <a:ext cx="2011680" cy="381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69164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0B2A3D"/>
                </a:solidFill>
                <a:latin typeface="Calibri"/>
              </a:rPr>
              <a:t>▸ Stage 1 — Fuzzification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55626B"/>
                </a:solidFill>
                <a:latin typeface="Calibri"/>
              </a:rPr>
              <a:t>–  Compute μ(x) for every linguistic term of each crisp input.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0B2A3D"/>
                </a:solidFill>
                <a:latin typeface="Calibri"/>
              </a:rPr>
              <a:t>▸ Stage 2 — Rule Evaluation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55626B"/>
                </a:solidFill>
                <a:latin typeface="Calibri"/>
              </a:rPr>
              <a:t>–  Strength = MIN(antecedent μ values) × rule weight, across 45 rules.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0B2A3D"/>
                </a:solidFill>
                <a:latin typeface="Calibri"/>
              </a:rPr>
              <a:t>▸ Stage 3 — Implication + Aggregation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55626B"/>
                </a:solidFill>
                <a:latin typeface="Calibri"/>
              </a:rPr>
              <a:t>–  Clip each output MF at its rule strength (MIN); combine all via MAX.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0B2A3D"/>
                </a:solidFill>
                <a:latin typeface="Calibri"/>
              </a:rPr>
              <a:t>▸ Stage 4 — Defuzzification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55626B"/>
                </a:solidFill>
                <a:latin typeface="Calibri"/>
              </a:rPr>
              <a:t>–  Centroid of Area yields a single crisp WPI ∈ [0, 10].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2103120"/>
            <a:ext cx="5029200" cy="1828800"/>
          </a:xfrm>
          <a:prstGeom prst="roundRect">
            <a:avLst>
              <a:gd name="adj" fmla="val 8000"/>
            </a:avLst>
          </a:prstGeom>
          <a:solidFill>
            <a:srgbClr val="0B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20840" y="2286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7DD3D8"/>
                </a:solidFill>
                <a:latin typeface="Calibri"/>
              </a:rPr>
              <a:t>Centroid of Area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2697480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WPI = ∫ μ_agg(y)·y dy  /  ∫ μ_agg(y) dy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4297680"/>
            <a:ext cx="5029200" cy="594360"/>
          </a:xfrm>
          <a:prstGeom prst="roundRect">
            <a:avLst>
              <a:gd name="adj" fmla="val 50000"/>
            </a:avLst>
          </a:prstGeom>
          <a:solidFill>
            <a:srgbClr val="E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B2A3D"/>
                </a:solidFill>
              </a:rPr>
              <a:t>1000-point discretization for numerical integration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5626B"/>
                </a:solidFill>
                <a:latin typeface="Calibri"/>
              </a:rPr>
              <a:t>Fuzzy Inference System · Water Potability Classification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5626B"/>
                </a:solidFill>
                <a:latin typeface="Calibri"/>
              </a:rPr>
              <a:t>11/16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E7C86"/>
                </a:solidFill>
                <a:latin typeface="Calibri"/>
              </a:rPr>
              <a:t>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2A3D"/>
                </a:solidFill>
                <a:latin typeface="Calibri"/>
              </a:rPr>
              <a:t>Real-Time Web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1">
                <a:solidFill>
                  <a:srgbClr val="55626B"/>
                </a:solidFill>
                <a:latin typeface="Calibri"/>
              </a:rPr>
              <a:t>Flask + Socket.IO · http://127.0.0.1:5050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70432"/>
            <a:ext cx="2011680" cy="381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73736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0B2A3D"/>
                </a:solidFill>
                <a:latin typeface="Calibri"/>
              </a:rPr>
              <a:t>▸ WPI Arc Gauge — animated 0–10 scale with colour zones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0B2A3D"/>
                </a:solidFill>
                <a:latin typeface="Calibri"/>
              </a:rPr>
              <a:t>▸ Sensor Cards — live pH / Turbidity / TDS / DO with status bars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0B2A3D"/>
                </a:solidFill>
                <a:latin typeface="Calibri"/>
              </a:rPr>
              <a:t>▸ WPI Trend Chart — 60-second rolling time series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0B2A3D"/>
                </a:solidFill>
                <a:latin typeface="Calibri"/>
              </a:rPr>
              <a:t>▸ Membership Visualisation — live μ(x) per linguistic term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0B2A3D"/>
                </a:solidFill>
                <a:latin typeface="Calibri"/>
              </a:rPr>
              <a:t>▸ Active Rules Panel — which of the 45 rules are firing, and how strongly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0B2A3D"/>
                </a:solidFill>
                <a:latin typeface="Calibri"/>
              </a:rPr>
              <a:t>▸ Manual Inference — slider-driven one-shot exploration of the FIS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0B2A3D"/>
                </a:solidFill>
                <a:latin typeface="Calibri"/>
              </a:rPr>
              <a:t>▸ Scenario Selector — Normal, Ideal, Acidic, Turbid, Hard Water, Contaminated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5626B"/>
                </a:solidFill>
                <a:latin typeface="Calibri"/>
              </a:rPr>
              <a:t>Fuzzy Inference System · Water Potability Classification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5626B"/>
                </a:solidFill>
                <a:latin typeface="Calibri"/>
              </a:rPr>
              <a:t>12/16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E7C86"/>
                </a:solidFill>
                <a:latin typeface="Calibri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2A3D"/>
                </a:solidFill>
                <a:latin typeface="Calibri"/>
              </a:rPr>
              <a:t>Validation Methodology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70432"/>
            <a:ext cx="2011680" cy="381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69164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0B2A3D"/>
                </a:solidFill>
                <a:latin typeface="Calibri"/>
              </a:rPr>
              <a:t>▸ 5,000 synthetic samples labeled by a WHO/BIS hard-threshold oracle (config-defined class balance)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0B2A3D"/>
                </a:solidFill>
                <a:latin typeface="Calibri"/>
              </a:rPr>
              <a:t>▸ Additionally cross-checked on a real-world Kaggle water-potability dataset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0B2A3D"/>
                </a:solidFill>
                <a:latin typeface="Calibri"/>
              </a:rPr>
              <a:t>▸ Benchmarked against Random Forest, KNN (k=7), and SVM (RBF) classifiers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0B2A3D"/>
                </a:solidFill>
                <a:latin typeface="Calibri"/>
              </a:rPr>
              <a:t>▸ Metrics: Accuracy, Macro F1-score, per-class precision/recall, confusion matrix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4023360"/>
            <a:ext cx="4206240" cy="502920"/>
          </a:xfrm>
          <a:prstGeom prst="roundRect">
            <a:avLst>
              <a:gd name="adj" fmla="val 50000"/>
            </a:avLst>
          </a:prstGeom>
          <a:solidFill>
            <a:srgbClr val="0B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python main.py validate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7548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E7C86"/>
                </a:solidFill>
                <a:latin typeface="Calibri"/>
              </a:rPr>
              <a:t>Boundary-Region Advantage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512064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0">
                <a:solidFill>
                  <a:srgbClr val="0B2A3D"/>
                </a:solidFill>
                <a:latin typeface="Calibri"/>
              </a:rPr>
              <a:t>▸ In the MARGINAL zone (WPI 3.5–6.5), hard thresholds produce abrupt, unrealistic jumps — the FIS's graded membership gives smooth, gradual transitions instead.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5626B"/>
                </a:solidFill>
                <a:latin typeface="Calibri"/>
              </a:rPr>
              <a:t>Fuzzy Inference System · Water Potability Classification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5626B"/>
                </a:solidFill>
                <a:latin typeface="Calibri"/>
              </a:rPr>
              <a:t>13/16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E7C86"/>
                </a:solidFill>
                <a:latin typeface="Calibri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2A3D"/>
                </a:solidFill>
                <a:latin typeface="Calibri"/>
              </a:rPr>
              <a:t>Benchmark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1">
                <a:solidFill>
                  <a:srgbClr val="55626B"/>
                </a:solidFill>
                <a:latin typeface="Calibri"/>
              </a:rPr>
              <a:t>Synthetic (WHO oracle) vs. Kaggle real-world dataset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70432"/>
            <a:ext cx="2011680" cy="381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benchmark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0" y="1600200"/>
            <a:ext cx="8686800" cy="5212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737360" y="1600200"/>
            <a:ext cx="8686800" cy="5212080"/>
          </a:xfrm>
          <a:prstGeom prst="rect">
            <a:avLst/>
          </a:prstGeom>
          <a:noFill/>
          <a:ln w="12700">
            <a:solidFill>
              <a:srgbClr val="DDE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5626B"/>
                </a:solidFill>
                <a:latin typeface="Calibri"/>
              </a:rPr>
              <a:t>Fuzzy Inference System · Water Potability Classification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5626B"/>
                </a:solidFill>
                <a:latin typeface="Calibri"/>
              </a:rPr>
              <a:t>14/16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E7C86"/>
                </a:solidFill>
                <a:latin typeface="Calibri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2A3D"/>
                </a:solidFill>
                <a:latin typeface="Calibri"/>
              </a:rPr>
              <a:t>Interpretability vs. Accuracy Trade-off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70432"/>
            <a:ext cx="2011680" cy="381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645920"/>
          <a:ext cx="603504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1188720"/>
                <a:gridCol w="1188720"/>
                <a:gridCol w="1005840"/>
              </a:tblGrid>
              <a:tr h="493776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anchor="ctr" marL="76200" marR="76200" marT="38100" marB="38100"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Accuracy</a:t>
                      </a:r>
                    </a:p>
                  </a:txBody>
                  <a:tcPr anchor="ctr" marL="76200" marR="76200" marT="38100" marB="38100"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F1-Macro</a:t>
                      </a:r>
                    </a:p>
                  </a:txBody>
                  <a:tcPr anchor="ctr" marL="76200" marR="76200" marT="38100" marB="38100"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Interpretable</a:t>
                      </a:r>
                    </a:p>
                  </a:txBody>
                  <a:tcPr anchor="ctr" marL="76200" marR="76200" marT="38100" marB="38100">
                    <a:solidFill>
                      <a:srgbClr val="0E7C86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A3D"/>
                          </a:solidFill>
                          <a:latin typeface="Calibri"/>
                        </a:rPr>
                        <a:t>Mamdani FIS (proposed)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A3D"/>
                          </a:solidFill>
                          <a:latin typeface="Calibri"/>
                        </a:rPr>
                        <a:t>75.3%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A3D"/>
                          </a:solidFill>
                          <a:latin typeface="Calibri"/>
                        </a:rPr>
                        <a:t>75.3%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A3D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A3D"/>
                          </a:solidFill>
                          <a:latin typeface="Calibri"/>
                        </a:rPr>
                        <a:t>Random Forest</a:t>
                      </a:r>
                    </a:p>
                  </a:txBody>
                  <a:tcPr anchor="ctr" marL="76200" marR="76200" marT="38100" marB="38100"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A3D"/>
                          </a:solidFill>
                          <a:latin typeface="Calibri"/>
                        </a:rPr>
                        <a:t>99.5%</a:t>
                      </a:r>
                    </a:p>
                  </a:txBody>
                  <a:tcPr anchor="ctr" marL="76200" marR="76200" marT="38100" marB="38100"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A3D"/>
                          </a:solidFill>
                          <a:latin typeface="Calibri"/>
                        </a:rPr>
                        <a:t>99.5%</a:t>
                      </a:r>
                    </a:p>
                  </a:txBody>
                  <a:tcPr anchor="ctr" marL="76200" marR="76200" marT="38100" marB="38100"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A3D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 marL="76200" marR="76200" marT="38100" marB="38100">
                    <a:solidFill>
                      <a:srgbClr val="F7FAFA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A3D"/>
                          </a:solidFill>
                          <a:latin typeface="Calibri"/>
                        </a:rPr>
                        <a:t>KNN (k=7)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A3D"/>
                          </a:solidFill>
                          <a:latin typeface="Calibri"/>
                        </a:rPr>
                        <a:t>92.3%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A3D"/>
                          </a:solidFill>
                          <a:latin typeface="Calibri"/>
                        </a:rPr>
                        <a:t>91.0%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A3D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A3D"/>
                          </a:solidFill>
                          <a:latin typeface="Calibri"/>
                        </a:rPr>
                        <a:t>SVM (RBF)</a:t>
                      </a:r>
                    </a:p>
                  </a:txBody>
                  <a:tcPr anchor="ctr" marL="76200" marR="76200" marT="38100" marB="38100"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A3D"/>
                          </a:solidFill>
                          <a:latin typeface="Calibri"/>
                        </a:rPr>
                        <a:t>95.7%</a:t>
                      </a:r>
                    </a:p>
                  </a:txBody>
                  <a:tcPr anchor="ctr" marL="76200" marR="76200" marT="38100" marB="38100"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A3D"/>
                          </a:solidFill>
                          <a:latin typeface="Calibri"/>
                        </a:rPr>
                        <a:t>95.0%</a:t>
                      </a:r>
                    </a:p>
                  </a:txBody>
                  <a:tcPr anchor="ctr" marL="76200" marR="76200" marT="38100" marB="38100"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A3D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 marL="76200" marR="76200" marT="38100" marB="38100">
                    <a:solidFill>
                      <a:srgbClr val="F7FAFA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7" descr="fis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1554480"/>
            <a:ext cx="4480560" cy="379124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040880" y="1554480"/>
            <a:ext cx="4480560" cy="3791243"/>
          </a:xfrm>
          <a:prstGeom prst="rect">
            <a:avLst/>
          </a:prstGeom>
          <a:noFill/>
          <a:ln w="12700">
            <a:solidFill>
              <a:srgbClr val="DDE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4434840"/>
            <a:ext cx="6035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5626B"/>
                </a:solidFill>
                <a:latin typeface="Calibri"/>
              </a:rPr>
              <a:t>The FIS trades accuracy for full interpretability: every decision traces back to specific WHO/BIS-grounded rules. For safety-critical and community-use deployments, this transparency outweighs the raw-accuracy gap versus black-box models.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5626B"/>
                </a:solidFill>
                <a:latin typeface="Calibri"/>
              </a:rPr>
              <a:t>Fuzzy Inference System · Water Potability Classification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5626B"/>
                </a:solidFill>
                <a:latin typeface="Calibri"/>
              </a:rPr>
              <a:t>15/16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Conclusion &amp; Future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88720"/>
            <a:ext cx="2011680" cy="381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10881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▸ A Mamdani FIS on 4 low-cost sensors delivers real-time, interpretable water potability classification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▸ Every decision is traceable to WHO/BIS-grounded rules — critical for safety and regulatory trust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▸ Deployable end-to-end on a ~₹5,350 sensor stack + ESP32, with a live web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023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2C55E"/>
                </a:solidFill>
                <a:latin typeface="Calibri"/>
              </a:rPr>
              <a:t>Future 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434840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D6E6E8"/>
                </a:solidFill>
                <a:latin typeface="Calibri"/>
              </a:rPr>
              <a:t>▸ Adaptive/learned membership functions via hybrid ANFIS tuning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D6E6E8"/>
                </a:solidFill>
                <a:latin typeface="Calibri"/>
              </a:rPr>
              <a:t>▸ Field deployment &amp; calibration across multiple real water sources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D6E6E8"/>
                </a:solidFill>
                <a:latin typeface="Calibri"/>
              </a:rPr>
              <a:t>▸ Edge-native inference directly on ESP32 (no PC bridge required)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09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9FC9CC"/>
                </a:solidFill>
                <a:latin typeface="Calibri"/>
              </a:rPr>
              <a:t>Thank you  ·  Standards: WHO Guidelines 2022, BIS IS 10500:2012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