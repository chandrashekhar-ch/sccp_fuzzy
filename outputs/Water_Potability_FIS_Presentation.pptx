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DD3D8"/>
                </a:solidFill>
                <a:latin typeface="Calibri"/>
              </a:rPr>
              <a:t>SC_CPROJECT · FUZZY LOGIC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Fuzzy Inference System for Real-Time
Water Potability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CFE8E9"/>
                </a:solidFill>
                <a:latin typeface="Calibri"/>
              </a:rPr>
              <a:t>From Low-Cost Multi-Sensor Data — a Mamdani FIS that classifies drinking-water
safety in real time using four low-cost IoT sensors, no lab equipment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57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Presented by: SC_CProject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0F0F1"/>
                </a:solidFill>
                <a:latin typeface="Calibri"/>
              </a:rPr>
              <a:t>WHO Guidelines 2022  ·  BIS IS 10500:2012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Problem Statement &amp;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B2A3D"/>
                </a:solidFill>
                <a:latin typeface="Calibri"/>
              </a:rPr>
              <a:t>▸ Conventional water testing is slow &amp; costly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55626B"/>
                </a:solidFill>
                <a:latin typeface="Calibri"/>
              </a:rPr>
              <a:t>–  Lab analysis requires trained personnel, days of turnaround, and is geographically limited.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B2A3D"/>
                </a:solidFill>
                <a:latin typeface="Calibri"/>
              </a:rPr>
              <a:t>▸ Hard-threshold classifiers create a “cliff-edge” effect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55626B"/>
                </a:solidFill>
                <a:latin typeface="Calibri"/>
              </a:rPr>
              <a:t>–  A tiny change in a sensor reading can flip the decision abruptly at a boundary — unrealistic for real water.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B2A3D"/>
                </a:solidFill>
                <a:latin typeface="Calibri"/>
              </a:rPr>
              <a:t>▸ Black-box ML models are not auditable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55626B"/>
                </a:solidFill>
                <a:latin typeface="Calibri"/>
              </a:rPr>
              <a:t>–  Neural networks give no traceable reasoning — unacceptable for safety-critical drinking-water decisions.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B2A3D"/>
                </a:solidFill>
                <a:latin typeface="Calibri"/>
              </a:rPr>
              <a:t>▸ Need: real-time, low-cost, interpretable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00200"/>
            <a:ext cx="4663440" cy="1188720"/>
          </a:xfrm>
          <a:prstGeom prst="roundRect">
            <a:avLst>
              <a:gd name="adj" fmla="val 8000"/>
            </a:avLst>
          </a:prstGeom>
          <a:solidFill>
            <a:srgbClr val="E3F3F3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70992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E7C86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56232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0B2A3D"/>
                </a:solidFill>
                <a:latin typeface="Calibri"/>
              </a:rPr>
              <a:t>Low-cost IoT
sensors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017520"/>
            <a:ext cx="4663440" cy="1188720"/>
          </a:xfrm>
          <a:prstGeom prst="roundRect">
            <a:avLst>
              <a:gd name="adj" fmla="val 8000"/>
            </a:avLst>
          </a:prstGeom>
          <a:solidFill>
            <a:srgbClr val="E3F3F3"/>
          </a:solidFill>
          <a:ln w="1587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312724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2C55E"/>
                </a:solidFill>
                <a:latin typeface="Calibri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273552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0B2A3D"/>
                </a:solidFill>
                <a:latin typeface="Calibri"/>
              </a:rPr>
              <a:t>WHO/BIS grounded
fuzzy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4434840"/>
            <a:ext cx="4663440" cy="1188720"/>
          </a:xfrm>
          <a:prstGeom prst="roundRect">
            <a:avLst>
              <a:gd name="adj" fmla="val 8000"/>
            </a:avLst>
          </a:prstGeom>
          <a:solidFill>
            <a:srgbClr val="E3F3F3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454456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59E0B"/>
                </a:solidFill>
                <a:latin typeface="Calibri"/>
              </a:rPr>
              <a:t>&lt;₹8,000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690872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0B2A3D"/>
                </a:solidFill>
                <a:latin typeface="Calibri"/>
              </a:rPr>
              <a:t>Total hardware
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Why Fuzzy Logic?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69164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6809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Weakness / Strength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2A3D"/>
                          </a:solidFill>
                          <a:latin typeface="Calibri"/>
                        </a:rPr>
                        <a:t>Hard-threshold classifier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2A3D"/>
                          </a:solidFill>
                          <a:latin typeface="Calibri"/>
                        </a:rPr>
                        <a:t>Cliff-edge effect at boundaries — tiny change causes drastic class jump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2A3D"/>
                          </a:solidFill>
                          <a:latin typeface="Calibri"/>
                        </a:rPr>
                        <a:t>Neural network (black box)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2A3D"/>
                          </a:solidFill>
                          <a:latin typeface="Calibri"/>
                        </a:rPr>
                        <a:t>High accuracy but not interpretable — cannot be audited for safety-critical use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2A3D"/>
                          </a:solidFill>
                          <a:latin typeface="Calibri"/>
                        </a:rPr>
                        <a:t>Mamdani FIS (this project)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2A3D"/>
                          </a:solidFill>
                          <a:latin typeface="Calibri"/>
                        </a:rPr>
                        <a:t>Graded membership, human-readable rules, WHO/BIS grounded, real-time capable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3977639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E7C86"/>
                </a:solidFill>
                <a:latin typeface="Calibri"/>
              </a:rPr>
              <a:t>Design Philosophy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891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0B2A3D"/>
                </a:solidFill>
                <a:latin typeface="Calibri"/>
              </a:rPr>
              <a:t>▸ Every decision must be traceable to a specific rule grounded in a WHO/BIS standard.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2A3D"/>
                </a:solidFill>
                <a:latin typeface="Calibri"/>
              </a:rPr>
              <a:t>▸ Outputs should be continuous (0–10 WPI) rather than a binary safe/unsafe label.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2A3D"/>
                </a:solidFill>
                <a:latin typeface="Calibri"/>
              </a:rPr>
              <a:t>▸ The system must run on low-cost edge hardware in real time — no cloud inference needed.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Project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2A3D"/>
                </a:solidFill>
                <a:latin typeface="Calibri"/>
              </a:rPr>
              <a:t>▸ Design a Mamdani Fuzzy Inference System for water potability using pH, Turbidity, TDS &amp; Dissolved Oxygen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2A3D"/>
                </a:solidFill>
                <a:latin typeface="Calibri"/>
              </a:rPr>
              <a:t>▸ Ground every membership function and rule in WHO (2022) / BIS IS 10500:2012 standards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2A3D"/>
                </a:solidFill>
                <a:latin typeface="Calibri"/>
              </a:rPr>
              <a:t>▸ Apply temperature-compensated preprocessing to correct sensor drift (pH, DO)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2A3D"/>
                </a:solidFill>
                <a:latin typeface="Calibri"/>
              </a:rPr>
              <a:t>▸ Build a real-time web dashboard for live visualization of readings, membership, and rule activation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2A3D"/>
                </a:solidFill>
                <a:latin typeface="Calibri"/>
              </a:rPr>
              <a:t>▸ Validate the FIS against ML classifiers (Random Forest, KNN, SVM) on synthetic &amp; real-world datasets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2A3D"/>
                </a:solidFill>
                <a:latin typeface="Calibri"/>
              </a:rPr>
              <a:t>▸ Demonstrate deployability on a ₹5,350 sensor stack + ESP32 microcontroller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55626B"/>
                </a:solidFill>
                <a:latin typeface="Calibri"/>
              </a:rPr>
              <a:t>Sensor → Preprocessing → Mamdani FIS → Real-Time Dashboard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12000"/>
            </a:avLst>
          </a:prstGeom>
          <a:solidFill>
            <a:srgbClr val="F7FAFA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92808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E7C86"/>
                </a:solidFill>
                <a:latin typeface="Calibri"/>
              </a:rPr>
              <a:t>SENSOR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874520"/>
            <a:ext cx="7223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5626B"/>
                </a:solidFill>
                <a:latin typeface="Calibri"/>
              </a:rPr>
              <a:t>pH · Turbidity · TDS · DO · Temperature
(compensator)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577840" y="2724912"/>
            <a:ext cx="320040" cy="201168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953512"/>
            <a:ext cx="10881360" cy="960120"/>
          </a:xfrm>
          <a:prstGeom prst="roundRect">
            <a:avLst>
              <a:gd name="adj" fmla="val 12000"/>
            </a:avLst>
          </a:prstGeom>
          <a:solidFill>
            <a:srgbClr val="F7FAFA"/>
          </a:solidFill>
          <a:ln w="19050">
            <a:solidFill>
              <a:srgbClr val="0B2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632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B2A3D"/>
                </a:solidFill>
                <a:latin typeface="Calibri"/>
              </a:rPr>
              <a:t>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044952"/>
            <a:ext cx="7223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5626B"/>
                </a:solidFill>
                <a:latin typeface="Calibri"/>
              </a:rPr>
              <a:t>Temp. compensation → Z-score outlier
rejection → Moving avg (N=10) → Clamp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577840" y="3895344"/>
            <a:ext cx="320040" cy="201168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123944"/>
            <a:ext cx="10881360" cy="960120"/>
          </a:xfrm>
          <a:prstGeom prst="roundRect">
            <a:avLst>
              <a:gd name="adj" fmla="val 12000"/>
            </a:avLst>
          </a:prstGeom>
          <a:solidFill>
            <a:srgbClr val="F7FAFA"/>
          </a:solidFill>
          <a:ln w="1905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233672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2C55E"/>
                </a:solidFill>
                <a:latin typeface="Calibri"/>
              </a:rPr>
              <a:t>MAMDANI FIS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215384"/>
            <a:ext cx="7223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5626B"/>
                </a:solidFill>
                <a:latin typeface="Calibri"/>
              </a:rPr>
              <a:t>Fuzzification → 45-Rule Evaluation →
MIN Implication → MAX Aggregation → Centroid Defuzz.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577840" y="5065776"/>
            <a:ext cx="320040" cy="201168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294376"/>
            <a:ext cx="10881360" cy="960120"/>
          </a:xfrm>
          <a:prstGeom prst="roundRect">
            <a:avLst>
              <a:gd name="adj" fmla="val 12000"/>
            </a:avLst>
          </a:prstGeom>
          <a:solidFill>
            <a:srgbClr val="F7FAFA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404104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9E0B"/>
                </a:solidFill>
                <a:latin typeface="Calibri"/>
              </a:rPr>
              <a:t>REAL-TIME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5385816"/>
            <a:ext cx="7223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5626B"/>
                </a:solidFill>
                <a:latin typeface="Calibri"/>
              </a:rPr>
              <a:t>Flask + Socket.IO — Arc gauge, sensor
cards, membership &amp; rule visualisation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Sensor Selection &amp; Hardware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64592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377440"/>
                <a:gridCol w="3017520"/>
                <a:gridCol w="2011680"/>
                <a:gridCol w="301752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Sensor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Cost (INR)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WHO/BIS Limit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pH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DFRobot SEN0161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~₹1,200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6.5 – 8.5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Turbidity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DFRobot SEN0189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~₹800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&lt;1 NTU (WHO), &lt;5 NTU (BIS)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TDS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DFRobot SEN0244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~₹700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&lt;500 mg/L (BIS desirable)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Dissolved Oxygen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DFRobot SEN0237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~₹2,500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&gt;6 mg/L (health benchmark)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Temperature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DS18B20 (compensator)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~₹150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Calibration use only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4360" y="425196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Total cost: ~₹5,350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983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E7C86"/>
                </a:solidFill>
                <a:latin typeface="Calibri"/>
              </a:rPr>
              <a:t>Microcontroller &amp; Compensation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3949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B2A3D"/>
                </a:solidFill>
                <a:latin typeface="Calibri"/>
              </a:rPr>
              <a:t>▸ ESP32 (Wi-Fi, 12-bit ADC, 240 MHz dual-core) streams JSON packets at 115,200 baud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B2A3D"/>
                </a:solidFill>
                <a:latin typeface="Calibri"/>
              </a:rPr>
              <a:t>▸ pH: ΔpH = 0.003 × (T − 25°C)   |   DO: corrected via Benson &amp; Krause saturation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FIS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Fuzzy Inference System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55626B"/>
                </a:solidFill>
                <a:latin typeface="Calibri"/>
              </a:rPr>
              <a:t>Mamdani-type FIS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5626B"/>
                </a:solidFill>
                <a:latin typeface="Calibri"/>
              </a:rPr>
              <a:t>IMPLICATION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11680"/>
            <a:ext cx="3566160" cy="59436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399" y="16916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5626B"/>
                </a:solidFill>
                <a:latin typeface="Calibri"/>
              </a:rPr>
              <a:t>AGGREGATION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399" y="2011680"/>
            <a:ext cx="3566160" cy="594360"/>
          </a:xfrm>
          <a:prstGeom prst="roundRect">
            <a:avLst>
              <a:gd name="adj" fmla="val 50000"/>
            </a:avLst>
          </a:prstGeom>
          <a:solidFill>
            <a:srgbClr val="0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MAX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38" y="16916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5626B"/>
                </a:solidFill>
                <a:latin typeface="Calibri"/>
              </a:rPr>
              <a:t>DEFUZZIFICATION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38" y="2011680"/>
            <a:ext cx="3566160" cy="59436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Centroid of Area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288036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737360"/>
                <a:gridCol w="71323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Range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Linguistic Terms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pH (input)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0 – 14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Acidic · Slightly Acidic · Neutral · Slightly Alkaline · Alkaline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Turbidity (input)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0 – 100 NTU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Clear · Slightly Turbid · Turbid · Very Turbid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TDS (input)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0 – 1500 mg/L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Pure · Acceptable · High · Very High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DO (input)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0 – 20 mg/L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Very Low · Low · Acceptable · High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WPI (output)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0 – 10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Non-Potable · Marginal · Potable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FIS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Fuzzy Sets: pH Membership 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f_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600200"/>
            <a:ext cx="9052560" cy="45262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554480" y="1600200"/>
            <a:ext cx="9052560" cy="4526280"/>
          </a:xfrm>
          <a:prstGeom prst="rect">
            <a:avLst/>
          </a:prstGeom>
          <a:noFill/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6172200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5626B"/>
                </a:solidFill>
                <a:latin typeface="Calibri"/>
              </a:rPr>
              <a:t>pH universe of discourse [0,14] with 5 overlapping fuzzy sets; green band = WHO safe zone (6.5–8.5)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FIS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Output Variable: Water Potability Index (WPI)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f_output_w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600200"/>
            <a:ext cx="9052560" cy="45262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554480" y="1600200"/>
            <a:ext cx="9052560" cy="4526280"/>
          </a:xfrm>
          <a:prstGeom prst="rect">
            <a:avLst/>
          </a:prstGeom>
          <a:noFill/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6172200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55626B"/>
                </a:solidFill>
                <a:latin typeface="Calibri"/>
              </a:rPr>
              <a:t>Three overlapping output sets on [0,10]: Non-Potable, Marginal, Potable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FIS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Rule Base — 45 WHO/BIS-Grounded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645920"/>
          <a:ext cx="10972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120"/>
                <a:gridCol w="1554480"/>
                <a:gridCol w="2743200"/>
              </a:tblGrid>
              <a:tr h="35433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Rule Group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 Rules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Consequent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Fully potable (all parameters safe)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POTABLE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Hard non-potability triggers (single-param failure)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NON-POTABLE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Dual-parameter failures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NON-POTABLE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Single-parameter boundary violation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MARGINAL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Turbid + mixed parameters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MARGINAL / NON-POTABLE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Extreme scenarios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NON-POTABLE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Multi-parameter boundary cases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MARGINAL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46634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7C86"/>
                </a:solidFill>
                <a:latin typeface="Calibri"/>
              </a:rPr>
              <a:t>Sample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02920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2A3D"/>
                </a:solidFill>
                <a:latin typeface="Consolas"/>
              </a:rPr>
              <a:t>R1:  IF pH=NEUTRAL AND Turbidity=CLEAR AND TDS=ACCEPTABLE AND DO=HIGH  →  WPI=POTABLE  [w=1.0]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2A3D"/>
                </a:solidFill>
                <a:latin typeface="Consolas"/>
              </a:rPr>
              <a:t>R9:  IF pH=ACIDIC  →  WPI=NON_POTABLE  [w=1.0]   (critical trigger)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2A3D"/>
                </a:solidFill>
                <a:latin typeface="Consolas"/>
              </a:rPr>
              <a:t>R18: IF pH=NEUTRAL AND Turbidity=SLIGHTLY_TURBID AND TDS=ACCEPTABLE AND DO=ACCEPTABLE  →  WPI=MARGINAL  [w=0.80]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FIS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Inference Pipeline &amp; Defuzzification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B2A3D"/>
                </a:solidFill>
                <a:latin typeface="Calibri"/>
              </a:rPr>
              <a:t>▸ Stage 1 — Fuzzification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5626B"/>
                </a:solidFill>
                <a:latin typeface="Calibri"/>
              </a:rPr>
              <a:t>–  Compute μ(x) for every linguistic term of each crisp input.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B2A3D"/>
                </a:solidFill>
                <a:latin typeface="Calibri"/>
              </a:rPr>
              <a:t>▸ Stage 2 — Rule Evaluation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5626B"/>
                </a:solidFill>
                <a:latin typeface="Calibri"/>
              </a:rPr>
              <a:t>–  Strength = MIN(antecedent μ values) × rule weight, across 45 rules.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B2A3D"/>
                </a:solidFill>
                <a:latin typeface="Calibri"/>
              </a:rPr>
              <a:t>▸ Stage 3 — Implication + Aggregation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5626B"/>
                </a:solidFill>
                <a:latin typeface="Calibri"/>
              </a:rPr>
              <a:t>–  Clip each output MF at its rule strength (MIN); combine all via MAX.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B2A3D"/>
                </a:solidFill>
                <a:latin typeface="Calibri"/>
              </a:rPr>
              <a:t>▸ Stage 4 — Defuzzification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5626B"/>
                </a:solidFill>
                <a:latin typeface="Calibri"/>
              </a:rPr>
              <a:t>–  Centroid of Area yields a single crisp WPI ∈ [0, 10].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10312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0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7DD3D8"/>
                </a:solidFill>
                <a:latin typeface="Calibri"/>
              </a:rPr>
              <a:t>Centroid of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69748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WPI = ∫ μ_agg(y)·y dy  /  ∫ μ_agg(y) 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297680"/>
            <a:ext cx="5029200" cy="594360"/>
          </a:xfrm>
          <a:prstGeom prst="roundRect">
            <a:avLst>
              <a:gd name="adj" fmla="val 50000"/>
            </a:avLst>
          </a:prstGeom>
          <a:solidFill>
            <a:srgbClr val="E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A3D"/>
                </a:solidFill>
              </a:rPr>
              <a:t>1000-point discretization for numerical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Real-Time Web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55626B"/>
                </a:solidFill>
                <a:latin typeface="Calibri"/>
              </a:rPr>
              <a:t>Flask + Socket.IO · http://127.0.0.1:5050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0B2A3D"/>
                </a:solidFill>
                <a:latin typeface="Calibri"/>
              </a:rPr>
              <a:t>▸ WPI Arc Gauge — animated 0–10 scale with colour zones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A3D"/>
                </a:solidFill>
                <a:latin typeface="Calibri"/>
              </a:rPr>
              <a:t>▸ Sensor Cards — live pH / Turbidity / TDS / DO with status bars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A3D"/>
                </a:solidFill>
                <a:latin typeface="Calibri"/>
              </a:rPr>
              <a:t>▸ WPI Trend Chart — 60-second rolling time series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A3D"/>
                </a:solidFill>
                <a:latin typeface="Calibri"/>
              </a:rPr>
              <a:t>▸ Membership Visualisation — live μ(x) per linguistic term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A3D"/>
                </a:solidFill>
                <a:latin typeface="Calibri"/>
              </a:rPr>
              <a:t>▸ Active Rules Panel — which of the 45 rules are firing, and how strongly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A3D"/>
                </a:solidFill>
                <a:latin typeface="Calibri"/>
              </a:rPr>
              <a:t>▸ Manual Inference — slider-driven one-shot exploration of the FIS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A3D"/>
                </a:solidFill>
                <a:latin typeface="Calibri"/>
              </a:rPr>
              <a:t>▸ Scenario Selector — Normal, Ideal, Acidic, Turbid, Hard Water, Contaminated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Validation 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0B2A3D"/>
                </a:solidFill>
                <a:latin typeface="Calibri"/>
              </a:rPr>
              <a:t>▸ 5,000 synthetic samples labeled by a WHO/BIS hard-threshold oracle (config-defined class balance)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2A3D"/>
                </a:solidFill>
                <a:latin typeface="Calibri"/>
              </a:rPr>
              <a:t>▸ Additionally cross-checked on a real-world Kaggle water-potability dataset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2A3D"/>
                </a:solidFill>
                <a:latin typeface="Calibri"/>
              </a:rPr>
              <a:t>▸ Benchmarked against Random Forest, KNN (k=7), and SVM (RBF) classifiers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2A3D"/>
                </a:solidFill>
                <a:latin typeface="Calibri"/>
              </a:rPr>
              <a:t>▸ Metrics: Accuracy, Macro F1-score, per-class precision/recall, confusion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02336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0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python main.py validate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E7C86"/>
                </a:solidFill>
                <a:latin typeface="Calibri"/>
              </a:rPr>
              <a:t>Boundary-Region Advantage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120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B2A3D"/>
                </a:solidFill>
                <a:latin typeface="Calibri"/>
              </a:rPr>
              <a:t>▸ In the MARGINAL zone (WPI 3.5–6.5), hard thresholds produce abrupt, unrealistic jumps — the FIS's graded membership gives smooth, gradual transitions instead.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Benchmark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55626B"/>
                </a:solidFill>
                <a:latin typeface="Calibri"/>
              </a:rPr>
              <a:t>Synthetic (WHO oracle) vs. Kaggle real-world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enchmar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600200"/>
            <a:ext cx="8686800" cy="5212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37360" y="1600200"/>
            <a:ext cx="8686800" cy="5212080"/>
          </a:xfrm>
          <a:prstGeom prst="rect">
            <a:avLst/>
          </a:prstGeom>
          <a:noFill/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B2A3D"/>
                </a:solidFill>
                <a:latin typeface="Calibri"/>
              </a:rPr>
              <a:t>Interpretability vs. Accuracy Trade-off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645920"/>
          <a:ext cx="60350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188720"/>
                <a:gridCol w="100584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Interpretable</a:t>
                      </a:r>
                    </a:p>
                  </a:txBody>
                  <a:tcPr anchor="ctr" marL="76200" marR="76200" marT="38100" marB="38100">
                    <a:solidFill>
                      <a:srgbClr val="0E7C86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Mamdani FIS (proposed)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75.3%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75.3%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99.5%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99.5%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KNN (k=7)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92.3%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91.0%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SVM (RBF)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3D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76200" marR="76200" marT="38100" marB="38100">
                    <a:solidFill>
                      <a:srgbClr val="F7FAFA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s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37912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040880" y="1554480"/>
            <a:ext cx="4480560" cy="3791243"/>
          </a:xfrm>
          <a:prstGeom prst="rect">
            <a:avLst/>
          </a:prstGeom>
          <a:noFill/>
          <a:ln w="12700">
            <a:solidFill>
              <a:srgbClr val="DDE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434840"/>
            <a:ext cx="6035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5626B"/>
                </a:solidFill>
                <a:latin typeface="Calibri"/>
              </a:rPr>
              <a:t>The FIS trades accuracy for full interpretability: every decision traces back to specific WHO/BIS-grounded rules. For safety-critical and community-use deployments, this transparency outweighs the raw-accuracy gap versus black-box models.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Fuzzy Inference System · Water Potability Classification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26B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Conclusion &amp; 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88720"/>
            <a:ext cx="2011680" cy="381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▸ A Mamdani FIS on 4 low-cost sensors delivers real-time, interpretable water potability classification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▸ Every decision is traceable to WHO/BIS-grounded rules — critical for safety and regulatory trust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▸ Deployable end-to-end on a ~₹5,350 sensor stack + ESP32, with a live web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C55E"/>
                </a:solidFill>
                <a:latin typeface="Calibri"/>
              </a:rPr>
              <a:t>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D6E6E8"/>
                </a:solidFill>
                <a:latin typeface="Calibri"/>
              </a:rPr>
              <a:t>▸ Adaptive/learned membership functions via hybrid ANFIS tuning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D6E6E8"/>
                </a:solidFill>
                <a:latin typeface="Calibri"/>
              </a:rPr>
              <a:t>▸ Field deployment &amp; calibration across multiple real water sources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D6E6E8"/>
                </a:solidFill>
                <a:latin typeface="Calibri"/>
              </a:rPr>
              <a:t>▸ Edge-native inference directly on ESP32 (no PC bridge required)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9FC9CC"/>
                </a:solidFill>
                <a:latin typeface="Calibri"/>
              </a:rPr>
              <a:t>Thank you  ·  Standards: WHO Guidelines 2022, BIS IS 10500:2012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